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8" d="100"/>
          <a:sy n="98" d="100"/>
        </p:scale>
        <p:origin x="374"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2185832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1641520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1067845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C9B522-F67A-45E9-8747-97074714989D}" type="datetimeFigureOut">
              <a:rPr lang="en-SG" smtClean="0"/>
              <a:t>3/12/2025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1358369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C9B522-F67A-45E9-8747-97074714989D}" type="datetimeFigureOut">
              <a:rPr lang="en-SG" smtClean="0"/>
              <a:t>3/12/2025</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3553224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3"/>
          <p:cNvSpPr>
            <a:spLocks noGrp="1"/>
          </p:cNvSpPr>
          <p:nvPr>
            <p:ph type="ftr" sz="quarter" idx="11"/>
          </p:nvPr>
        </p:nvSpPr>
        <p:spPr/>
        <p:txBody>
          <a:bodyPr/>
          <a:lstStyle/>
          <a:p>
            <a:endParaRPr lang="en-SG"/>
          </a:p>
        </p:txBody>
      </p:sp>
      <p:sp>
        <p:nvSpPr>
          <p:cNvPr id="6" name="Slide Number Placeholder 4"/>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2464230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2"/>
          <p:cNvSpPr>
            <a:spLocks noGrp="1"/>
          </p:cNvSpPr>
          <p:nvPr>
            <p:ph type="ftr" sz="quarter" idx="11"/>
          </p:nvPr>
        </p:nvSpPr>
        <p:spPr/>
        <p:txBody>
          <a:bodyPr/>
          <a:lstStyle/>
          <a:p>
            <a:endParaRPr lang="en-SG"/>
          </a:p>
        </p:txBody>
      </p:sp>
      <p:sp>
        <p:nvSpPr>
          <p:cNvPr id="6" name="Slide Number Placeholder 3"/>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2146011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5"/>
          <p:cNvSpPr>
            <a:spLocks noGrp="1"/>
          </p:cNvSpPr>
          <p:nvPr>
            <p:ph type="ftr" sz="quarter" idx="11"/>
          </p:nvPr>
        </p:nvSpPr>
        <p:spPr/>
        <p:txBody>
          <a:bodyPr/>
          <a:lstStyle/>
          <a:p>
            <a:endParaRPr lang="en-SG"/>
          </a:p>
        </p:txBody>
      </p:sp>
      <p:sp>
        <p:nvSpPr>
          <p:cNvPr id="6" name="Slide Number Placeholder 6"/>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2483423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C9B522-F67A-45E9-8747-97074714989D}" type="datetimeFigureOut">
              <a:rPr lang="en-SG" smtClean="0"/>
              <a:t>3/12/2025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1317340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C9B522-F67A-45E9-8747-97074714989D}" type="datetimeFigureOut">
              <a:rPr lang="en-SG" smtClean="0"/>
              <a:t>3/12/2025</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3862225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3022238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83211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2210597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4"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2938052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4"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26024807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10469867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C9B522-F67A-45E9-8747-97074714989D}" type="datetimeFigureOut">
              <a:rPr lang="en-SG" smtClean="0"/>
              <a:t>3/12/2025</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BE5E284-87A1-471E-9E61-AFD59E0594F0}" type="slidenum">
              <a:rPr lang="en-SG" smtClean="0"/>
              <a:t>‹#›</a:t>
            </a:fld>
            <a:endParaRPr lang="en-SG"/>
          </a:p>
        </p:txBody>
      </p:sp>
    </p:spTree>
    <p:extLst>
      <p:ext uri="{BB962C8B-B14F-4D97-AF65-F5344CB8AC3E}">
        <p14:creationId xmlns:p14="http://schemas.microsoft.com/office/powerpoint/2010/main" val="487141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7C9B522-F67A-45E9-8747-97074714989D}" type="datetimeFigureOut">
              <a:rPr lang="en-SG" smtClean="0"/>
              <a:t>3/12/2025</a:t>
            </a:fld>
            <a:endParaRPr lang="en-SG"/>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SG"/>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BE5E284-87A1-471E-9E61-AFD59E0594F0}" type="slidenum">
              <a:rPr lang="en-SG" smtClean="0"/>
              <a:t>‹#›</a:t>
            </a:fld>
            <a:endParaRPr lang="en-SG"/>
          </a:p>
        </p:txBody>
      </p:sp>
    </p:spTree>
    <p:extLst>
      <p:ext uri="{BB962C8B-B14F-4D97-AF65-F5344CB8AC3E}">
        <p14:creationId xmlns:p14="http://schemas.microsoft.com/office/powerpoint/2010/main" val="1589912219"/>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B603-71DA-26AD-BE84-85570E9F268B}"/>
              </a:ext>
            </a:extLst>
          </p:cNvPr>
          <p:cNvSpPr>
            <a:spLocks noGrp="1"/>
          </p:cNvSpPr>
          <p:nvPr>
            <p:ph type="ctrTitle"/>
          </p:nvPr>
        </p:nvSpPr>
        <p:spPr>
          <a:xfrm>
            <a:off x="838322" y="475488"/>
            <a:ext cx="10515356" cy="2478024"/>
          </a:xfrm>
        </p:spPr>
        <p:txBody>
          <a:bodyPr>
            <a:normAutofit fontScale="90000"/>
          </a:bodyPr>
          <a:lstStyle/>
          <a:p>
            <a:r>
              <a:rPr lang="en-US" sz="4000" b="1" dirty="0">
                <a:latin typeface="Arial" panose="020B0604020202020204" pitchFamily="34" charset="0"/>
                <a:cs typeface="Arial" panose="020B0604020202020204" pitchFamily="34" charset="0"/>
              </a:rPr>
              <a:t>ST1510 Programming for Data Analytics – CA1</a:t>
            </a:r>
            <a:br>
              <a:rPr lang="en-US" sz="4000" dirty="0">
                <a:latin typeface="Arial" panose="020B0604020202020204" pitchFamily="34" charset="0"/>
                <a:cs typeface="Arial" panose="020B0604020202020204" pitchFamily="34" charset="0"/>
              </a:rPr>
            </a:br>
            <a:r>
              <a:rPr lang="en-US" sz="4000" b="1" dirty="0">
                <a:latin typeface="Arial" panose="020B0604020202020204" pitchFamily="34" charset="0"/>
                <a:cs typeface="Arial" panose="020B0604020202020204" pitchFamily="34" charset="0"/>
              </a:rPr>
              <a:t>Data Analysis on Job Postings Using Pandas &amp; Matplotlib</a:t>
            </a:r>
            <a:endParaRPr lang="en-SG" sz="40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BEA7C3E3-719B-C953-CB5F-2E4D7D883FB4}"/>
              </a:ext>
            </a:extLst>
          </p:cNvPr>
          <p:cNvSpPr>
            <a:spLocks noGrp="1"/>
          </p:cNvSpPr>
          <p:nvPr>
            <p:ph type="subTitle" idx="1"/>
          </p:nvPr>
        </p:nvSpPr>
        <p:spPr>
          <a:xfrm>
            <a:off x="2390112" y="3552838"/>
            <a:ext cx="8637072" cy="1997570"/>
          </a:xfrm>
        </p:spPr>
        <p:txBody>
          <a:bodyPr>
            <a:normAutofit fontScale="92500" lnSpcReduction="20000"/>
          </a:bodyPr>
          <a:lstStyle/>
          <a:p>
            <a:r>
              <a:rPr lang="en-SG" dirty="0"/>
              <a:t>Name: Ethan Chuwa Si Xuan</a:t>
            </a:r>
          </a:p>
          <a:p>
            <a:r>
              <a:rPr lang="en-SG" dirty="0"/>
              <a:t>Admin.no: p2508638</a:t>
            </a:r>
          </a:p>
          <a:p>
            <a:r>
              <a:rPr lang="en-SG" dirty="0"/>
              <a:t>Class: </a:t>
            </a:r>
            <a:r>
              <a:rPr lang="en-SG" dirty="0" err="1"/>
              <a:t>Daaa</a:t>
            </a:r>
            <a:r>
              <a:rPr lang="en-SG" dirty="0"/>
              <a:t>/ft/1b/04</a:t>
            </a:r>
          </a:p>
          <a:p>
            <a:r>
              <a:rPr lang="en-SG" dirty="0"/>
              <a:t>Research question: </a:t>
            </a:r>
            <a:r>
              <a:rPr lang="en-US" b="1" dirty="0">
                <a:latin typeface="Arial" panose="020B0604020202020204" pitchFamily="34" charset="0"/>
                <a:cs typeface="Arial" panose="020B0604020202020204" pitchFamily="34" charset="0"/>
              </a:rPr>
              <a:t>“How do estimated salaries vary in relation to key job-related factors within the job market?”</a:t>
            </a:r>
            <a:endParaRPr lang="en-US" dirty="0">
              <a:latin typeface="Arial" panose="020B0604020202020204" pitchFamily="34" charset="0"/>
              <a:cs typeface="Arial" panose="020B0604020202020204" pitchFamily="34" charset="0"/>
            </a:endParaRPr>
          </a:p>
          <a:p>
            <a:endParaRPr lang="en-SG" dirty="0"/>
          </a:p>
        </p:txBody>
      </p:sp>
    </p:spTree>
    <p:extLst>
      <p:ext uri="{BB962C8B-B14F-4D97-AF65-F5344CB8AC3E}">
        <p14:creationId xmlns:p14="http://schemas.microsoft.com/office/powerpoint/2010/main" val="2477181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7E7B-52EA-C4DA-9849-A46C63C2C482}"/>
              </a:ext>
            </a:extLst>
          </p:cNvPr>
          <p:cNvSpPr>
            <a:spLocks noGrp="1"/>
          </p:cNvSpPr>
          <p:nvPr>
            <p:ph type="title"/>
          </p:nvPr>
        </p:nvSpPr>
        <p:spPr>
          <a:xfrm>
            <a:off x="0" y="0"/>
            <a:ext cx="4391437" cy="587136"/>
          </a:xfrm>
        </p:spPr>
        <p:txBody>
          <a:bodyPr>
            <a:normAutofit/>
          </a:bodyPr>
          <a:lstStyle/>
          <a:p>
            <a:r>
              <a:rPr lang="en-SG" sz="1800" dirty="0"/>
              <a:t>Analysis summary</a:t>
            </a:r>
          </a:p>
        </p:txBody>
      </p:sp>
      <p:sp>
        <p:nvSpPr>
          <p:cNvPr id="19" name="TextBox 18">
            <a:extLst>
              <a:ext uri="{FF2B5EF4-FFF2-40B4-BE49-F238E27FC236}">
                <a16:creationId xmlns:a16="http://schemas.microsoft.com/office/drawing/2014/main" id="{0B536BC0-F737-43B6-E41A-D635A57FF718}"/>
              </a:ext>
            </a:extLst>
          </p:cNvPr>
          <p:cNvSpPr txBox="1"/>
          <p:nvPr/>
        </p:nvSpPr>
        <p:spPr>
          <a:xfrm>
            <a:off x="329184" y="713231"/>
            <a:ext cx="10442448" cy="3970318"/>
          </a:xfrm>
          <a:prstGeom prst="rect">
            <a:avLst/>
          </a:prstGeom>
          <a:noFill/>
        </p:spPr>
        <p:txBody>
          <a:bodyPr wrap="square">
            <a:spAutoFit/>
          </a:bodyPr>
          <a:lstStyle/>
          <a:p>
            <a:pPr marL="342900" indent="-342900">
              <a:buAutoNum type="arabicPeriod"/>
            </a:pPr>
            <a:r>
              <a:rPr lang="en-US" dirty="0"/>
              <a:t>Defining title and research question</a:t>
            </a:r>
          </a:p>
          <a:p>
            <a:pPr marL="342900" indent="-342900">
              <a:buAutoNum type="arabicPeriod"/>
            </a:pPr>
            <a:r>
              <a:rPr lang="en-US" dirty="0"/>
              <a:t>Importing libraries</a:t>
            </a:r>
          </a:p>
          <a:p>
            <a:pPr marL="342900" indent="-342900">
              <a:buAutoNum type="arabicPeriod"/>
            </a:pPr>
            <a:r>
              <a:rPr lang="en-US" dirty="0"/>
              <a:t>Load datasets</a:t>
            </a:r>
          </a:p>
          <a:p>
            <a:pPr marL="342900" indent="-342900">
              <a:buAutoNum type="arabicPeriod"/>
            </a:pPr>
            <a:r>
              <a:rPr lang="en-US" dirty="0"/>
              <a:t>Data exploration using .shape, .head() and .</a:t>
            </a:r>
            <a:r>
              <a:rPr lang="en-US" dirty="0" err="1"/>
              <a:t>dtypes</a:t>
            </a:r>
            <a:r>
              <a:rPr lang="en-US" dirty="0"/>
              <a:t> </a:t>
            </a:r>
          </a:p>
          <a:p>
            <a:pPr marL="342900" indent="-342900">
              <a:buAutoNum type="arabicPeriod"/>
            </a:pPr>
            <a:r>
              <a:rPr lang="en-US" dirty="0"/>
              <a:t>Merging, comparing and cleaning of datasets</a:t>
            </a:r>
          </a:p>
          <a:p>
            <a:pPr marL="342900" indent="-342900">
              <a:buAutoNum type="arabicPeriod"/>
            </a:pPr>
            <a:r>
              <a:rPr lang="en-US" dirty="0"/>
              <a:t>Keeping useful columns and dropping not useful columns based on research question</a:t>
            </a:r>
          </a:p>
          <a:p>
            <a:pPr marL="342900" indent="-342900">
              <a:buAutoNum type="arabicPeriod"/>
            </a:pPr>
            <a:r>
              <a:rPr lang="en-US" dirty="0"/>
              <a:t>Conversion of columns to meaningful data like </a:t>
            </a:r>
            <a:r>
              <a:rPr lang="en-US" dirty="0" err="1"/>
              <a:t>listed_time</a:t>
            </a:r>
            <a:endParaRPr lang="en-US" dirty="0"/>
          </a:p>
          <a:p>
            <a:pPr marL="342900" indent="-342900">
              <a:buAutoNum type="arabicPeriod"/>
            </a:pPr>
            <a:r>
              <a:rPr lang="en-US" dirty="0"/>
              <a:t>Calculation of median salary if </a:t>
            </a:r>
            <a:r>
              <a:rPr lang="en-US" dirty="0" err="1"/>
              <a:t>NaN</a:t>
            </a:r>
            <a:r>
              <a:rPr lang="en-US" dirty="0"/>
              <a:t> based on min salary and max salary.</a:t>
            </a:r>
          </a:p>
          <a:p>
            <a:pPr marL="342900" indent="-342900">
              <a:buAutoNum type="arabicPeriod"/>
            </a:pPr>
            <a:r>
              <a:rPr lang="en-US" dirty="0"/>
              <a:t>Conversion of all currency to USD</a:t>
            </a:r>
          </a:p>
          <a:p>
            <a:pPr marL="342900" indent="-342900">
              <a:buAutoNum type="arabicPeriod"/>
            </a:pPr>
            <a:r>
              <a:rPr lang="en-US" dirty="0"/>
              <a:t>Conversion of different pay periods to annual based on work type.</a:t>
            </a:r>
          </a:p>
          <a:p>
            <a:pPr marL="342900" indent="-342900">
              <a:buAutoNum type="arabicPeriod"/>
            </a:pPr>
            <a:r>
              <a:rPr lang="en-US" dirty="0"/>
              <a:t>Remove non-representative values of salary</a:t>
            </a:r>
          </a:p>
          <a:p>
            <a:pPr marL="342900" indent="-342900">
              <a:buAutoNum type="arabicPeriod"/>
            </a:pPr>
            <a:r>
              <a:rPr lang="en-US" dirty="0"/>
              <a:t>Impute missing data</a:t>
            </a:r>
          </a:p>
          <a:p>
            <a:pPr marL="342900" indent="-342900">
              <a:buAutoNum type="arabicPeriod"/>
            </a:pPr>
            <a:r>
              <a:rPr lang="en-US" dirty="0"/>
              <a:t>Category mapping</a:t>
            </a:r>
          </a:p>
          <a:p>
            <a:pPr marL="342900" indent="-342900">
              <a:buAutoNum type="arabicPeriod"/>
            </a:pPr>
            <a:r>
              <a:rPr lang="en-US" dirty="0"/>
              <a:t>Plotting of charts and analysis</a:t>
            </a:r>
          </a:p>
        </p:txBody>
      </p:sp>
    </p:spTree>
    <p:extLst>
      <p:ext uri="{BB962C8B-B14F-4D97-AF65-F5344CB8AC3E}">
        <p14:creationId xmlns:p14="http://schemas.microsoft.com/office/powerpoint/2010/main" val="2369700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A98F-C3DD-48A9-D148-7DA00915B3D6}"/>
              </a:ext>
            </a:extLst>
          </p:cNvPr>
          <p:cNvSpPr>
            <a:spLocks noGrp="1"/>
          </p:cNvSpPr>
          <p:nvPr>
            <p:ph type="title"/>
          </p:nvPr>
        </p:nvSpPr>
        <p:spPr>
          <a:xfrm>
            <a:off x="0" y="0"/>
            <a:ext cx="4644421" cy="587136"/>
          </a:xfrm>
        </p:spPr>
        <p:txBody>
          <a:bodyPr>
            <a:normAutofit/>
          </a:bodyPr>
          <a:lstStyle/>
          <a:p>
            <a:r>
              <a:rPr lang="en-SG" sz="1800" dirty="0"/>
              <a:t>Data analysis using pandas</a:t>
            </a:r>
          </a:p>
        </p:txBody>
      </p:sp>
      <p:pic>
        <p:nvPicPr>
          <p:cNvPr id="5" name="Picture 4">
            <a:extLst>
              <a:ext uri="{FF2B5EF4-FFF2-40B4-BE49-F238E27FC236}">
                <a16:creationId xmlns:a16="http://schemas.microsoft.com/office/drawing/2014/main" id="{7DB11141-57E1-13B3-E3B8-FAB7C1A14D8D}"/>
              </a:ext>
            </a:extLst>
          </p:cNvPr>
          <p:cNvPicPr>
            <a:picLocks noChangeAspect="1"/>
          </p:cNvPicPr>
          <p:nvPr/>
        </p:nvPicPr>
        <p:blipFill>
          <a:blip r:embed="rId2"/>
          <a:stretch>
            <a:fillRect/>
          </a:stretch>
        </p:blipFill>
        <p:spPr>
          <a:xfrm>
            <a:off x="5661471" y="77632"/>
            <a:ext cx="2357817" cy="1955001"/>
          </a:xfrm>
          <a:prstGeom prst="rect">
            <a:avLst/>
          </a:prstGeom>
        </p:spPr>
      </p:pic>
      <p:sp>
        <p:nvSpPr>
          <p:cNvPr id="6" name="TextBox 5">
            <a:extLst>
              <a:ext uri="{FF2B5EF4-FFF2-40B4-BE49-F238E27FC236}">
                <a16:creationId xmlns:a16="http://schemas.microsoft.com/office/drawing/2014/main" id="{A0014E96-F235-0D23-2247-DE4E89F6366A}"/>
              </a:ext>
            </a:extLst>
          </p:cNvPr>
          <p:cNvSpPr txBox="1"/>
          <p:nvPr/>
        </p:nvSpPr>
        <p:spPr>
          <a:xfrm>
            <a:off x="1335" y="1138210"/>
            <a:ext cx="5660136" cy="4247317"/>
          </a:xfrm>
          <a:prstGeom prst="rect">
            <a:avLst/>
          </a:prstGeom>
          <a:noFill/>
        </p:spPr>
        <p:txBody>
          <a:bodyPr wrap="square" rtlCol="0">
            <a:spAutoFit/>
          </a:bodyPr>
          <a:lstStyle/>
          <a:p>
            <a:pPr marL="342900" indent="-342900">
              <a:buAutoNum type="arabicPeriod"/>
            </a:pPr>
            <a:r>
              <a:rPr lang="en-SG" dirty="0"/>
              <a:t>Examination of all </a:t>
            </a:r>
            <a:r>
              <a:rPr lang="en-SG" dirty="0" err="1"/>
              <a:t>dfs</a:t>
            </a:r>
            <a:r>
              <a:rPr lang="en-SG" dirty="0"/>
              <a:t> using .shape, .head() and .</a:t>
            </a:r>
            <a:r>
              <a:rPr lang="en-SG" dirty="0" err="1"/>
              <a:t>dtypes</a:t>
            </a:r>
            <a:r>
              <a:rPr lang="en-SG" dirty="0"/>
              <a:t> to visualise all the datasets.</a:t>
            </a:r>
          </a:p>
          <a:p>
            <a:pPr marL="342900" indent="-342900">
              <a:buAutoNum type="arabicPeriod"/>
            </a:pPr>
            <a:r>
              <a:rPr lang="en-SG" dirty="0"/>
              <a:t>Comparison of df1 and df5 as they are similar. df5 is found to have corrupted data hence df1 is used instead.</a:t>
            </a:r>
          </a:p>
          <a:p>
            <a:pPr marL="342900" indent="-342900">
              <a:buAutoNum type="arabicPeriod"/>
            </a:pPr>
            <a:r>
              <a:rPr lang="en-SG" dirty="0"/>
              <a:t>Making sure that “junk” columns in df1 are actually not meaningful and can be ignored safely.</a:t>
            </a:r>
          </a:p>
          <a:p>
            <a:pPr marL="342900" indent="-342900">
              <a:buAutoNum type="arabicPeriod"/>
            </a:pPr>
            <a:r>
              <a:rPr lang="en-SG" dirty="0"/>
              <a:t>Merging of df1 to df4 on </a:t>
            </a:r>
            <a:r>
              <a:rPr lang="en-SG" dirty="0" err="1"/>
              <a:t>job_id</a:t>
            </a:r>
            <a:r>
              <a:rPr lang="en-SG" dirty="0"/>
              <a:t>.</a:t>
            </a:r>
          </a:p>
          <a:p>
            <a:pPr marL="342900" indent="-342900">
              <a:buAutoNum type="arabicPeriod"/>
            </a:pPr>
            <a:r>
              <a:rPr lang="en-SG" dirty="0"/>
              <a:t>All columns deemed unnecessary for my research question are dropped.</a:t>
            </a:r>
          </a:p>
          <a:p>
            <a:pPr marL="342900" indent="-342900">
              <a:buAutoNum type="arabicPeriod"/>
            </a:pPr>
            <a:r>
              <a:rPr lang="en-SG" dirty="0"/>
              <a:t>Used .</a:t>
            </a:r>
            <a:r>
              <a:rPr lang="en-SG" dirty="0" err="1"/>
              <a:t>to_datetime</a:t>
            </a:r>
            <a:r>
              <a:rPr lang="en-SG" dirty="0"/>
              <a:t>() to convert </a:t>
            </a:r>
            <a:r>
              <a:rPr lang="en-SG" dirty="0" err="1"/>
              <a:t>listed_time</a:t>
            </a:r>
            <a:r>
              <a:rPr lang="en-SG" dirty="0"/>
              <a:t> to a readable format.</a:t>
            </a:r>
          </a:p>
          <a:p>
            <a:pPr marL="342900" indent="-342900">
              <a:buAutoNum type="arabicPeriod"/>
            </a:pPr>
            <a:endParaRPr lang="en-SG" dirty="0"/>
          </a:p>
          <a:p>
            <a:pPr marL="342900" indent="-342900">
              <a:buAutoNum type="arabicPeriod"/>
            </a:pPr>
            <a:endParaRPr lang="en-SG" dirty="0"/>
          </a:p>
        </p:txBody>
      </p:sp>
      <p:pic>
        <p:nvPicPr>
          <p:cNvPr id="11" name="Picture 10">
            <a:extLst>
              <a:ext uri="{FF2B5EF4-FFF2-40B4-BE49-F238E27FC236}">
                <a16:creationId xmlns:a16="http://schemas.microsoft.com/office/drawing/2014/main" id="{08EAF23D-2984-3028-B95B-28C1CCAAE3B2}"/>
              </a:ext>
            </a:extLst>
          </p:cNvPr>
          <p:cNvPicPr>
            <a:picLocks noChangeAspect="1"/>
          </p:cNvPicPr>
          <p:nvPr/>
        </p:nvPicPr>
        <p:blipFill>
          <a:blip r:embed="rId3"/>
          <a:stretch>
            <a:fillRect/>
          </a:stretch>
        </p:blipFill>
        <p:spPr>
          <a:xfrm>
            <a:off x="8306760" y="2357126"/>
            <a:ext cx="3725220" cy="943857"/>
          </a:xfrm>
          <a:prstGeom prst="rect">
            <a:avLst/>
          </a:prstGeom>
        </p:spPr>
      </p:pic>
      <p:pic>
        <p:nvPicPr>
          <p:cNvPr id="13" name="Picture 12">
            <a:extLst>
              <a:ext uri="{FF2B5EF4-FFF2-40B4-BE49-F238E27FC236}">
                <a16:creationId xmlns:a16="http://schemas.microsoft.com/office/drawing/2014/main" id="{10BD3AB1-3F8E-DF55-C689-F098FACB1B6A}"/>
              </a:ext>
            </a:extLst>
          </p:cNvPr>
          <p:cNvPicPr>
            <a:picLocks noChangeAspect="1"/>
          </p:cNvPicPr>
          <p:nvPr/>
        </p:nvPicPr>
        <p:blipFill>
          <a:blip r:embed="rId4"/>
          <a:stretch>
            <a:fillRect/>
          </a:stretch>
        </p:blipFill>
        <p:spPr>
          <a:xfrm>
            <a:off x="8121395" y="459006"/>
            <a:ext cx="3910585" cy="1192251"/>
          </a:xfrm>
          <a:prstGeom prst="rect">
            <a:avLst/>
          </a:prstGeom>
        </p:spPr>
      </p:pic>
      <p:pic>
        <p:nvPicPr>
          <p:cNvPr id="15" name="Picture 14">
            <a:extLst>
              <a:ext uri="{FF2B5EF4-FFF2-40B4-BE49-F238E27FC236}">
                <a16:creationId xmlns:a16="http://schemas.microsoft.com/office/drawing/2014/main" id="{F1E8A400-CD8F-C77A-D6A8-F955BE5515AA}"/>
              </a:ext>
            </a:extLst>
          </p:cNvPr>
          <p:cNvPicPr>
            <a:picLocks noChangeAspect="1"/>
          </p:cNvPicPr>
          <p:nvPr/>
        </p:nvPicPr>
        <p:blipFill>
          <a:blip r:embed="rId5"/>
          <a:stretch>
            <a:fillRect/>
          </a:stretch>
        </p:blipFill>
        <p:spPr>
          <a:xfrm>
            <a:off x="5573760" y="2323482"/>
            <a:ext cx="2445528" cy="1955001"/>
          </a:xfrm>
          <a:prstGeom prst="rect">
            <a:avLst/>
          </a:prstGeom>
        </p:spPr>
      </p:pic>
      <p:pic>
        <p:nvPicPr>
          <p:cNvPr id="19" name="Picture 18">
            <a:extLst>
              <a:ext uri="{FF2B5EF4-FFF2-40B4-BE49-F238E27FC236}">
                <a16:creationId xmlns:a16="http://schemas.microsoft.com/office/drawing/2014/main" id="{88FFE63E-C2EE-A95D-A836-6CB21E29FE0C}"/>
              </a:ext>
            </a:extLst>
          </p:cNvPr>
          <p:cNvPicPr>
            <a:picLocks noChangeAspect="1"/>
          </p:cNvPicPr>
          <p:nvPr/>
        </p:nvPicPr>
        <p:blipFill>
          <a:blip r:embed="rId6"/>
          <a:stretch>
            <a:fillRect/>
          </a:stretch>
        </p:blipFill>
        <p:spPr>
          <a:xfrm>
            <a:off x="5492231" y="4569332"/>
            <a:ext cx="2696296" cy="1667047"/>
          </a:xfrm>
          <a:prstGeom prst="rect">
            <a:avLst/>
          </a:prstGeom>
        </p:spPr>
      </p:pic>
      <p:pic>
        <p:nvPicPr>
          <p:cNvPr id="21" name="Picture 20">
            <a:extLst>
              <a:ext uri="{FF2B5EF4-FFF2-40B4-BE49-F238E27FC236}">
                <a16:creationId xmlns:a16="http://schemas.microsoft.com/office/drawing/2014/main" id="{35ECB632-10FD-56AF-F35E-E97FC010C25C}"/>
              </a:ext>
            </a:extLst>
          </p:cNvPr>
          <p:cNvPicPr>
            <a:picLocks noChangeAspect="1"/>
          </p:cNvPicPr>
          <p:nvPr/>
        </p:nvPicPr>
        <p:blipFill>
          <a:blip r:embed="rId7"/>
          <a:stretch>
            <a:fillRect/>
          </a:stretch>
        </p:blipFill>
        <p:spPr>
          <a:xfrm>
            <a:off x="8769096" y="4551147"/>
            <a:ext cx="3086509" cy="1077272"/>
          </a:xfrm>
          <a:prstGeom prst="rect">
            <a:avLst/>
          </a:prstGeom>
        </p:spPr>
      </p:pic>
      <p:cxnSp>
        <p:nvCxnSpPr>
          <p:cNvPr id="23" name="Straight Arrow Connector 22">
            <a:extLst>
              <a:ext uri="{FF2B5EF4-FFF2-40B4-BE49-F238E27FC236}">
                <a16:creationId xmlns:a16="http://schemas.microsoft.com/office/drawing/2014/main" id="{4F934722-6493-8D38-56FA-733F31DB68D5}"/>
              </a:ext>
            </a:extLst>
          </p:cNvPr>
          <p:cNvCxnSpPr/>
          <p:nvPr/>
        </p:nvCxnSpPr>
        <p:spPr>
          <a:xfrm>
            <a:off x="7782183" y="1055131"/>
            <a:ext cx="4063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FCEA80B-79BE-88E4-6D1F-2CE2088EA9FE}"/>
              </a:ext>
            </a:extLst>
          </p:cNvPr>
          <p:cNvCxnSpPr>
            <a:stCxn id="13" idx="2"/>
            <a:endCxn id="11" idx="0"/>
          </p:cNvCxnSpPr>
          <p:nvPr/>
        </p:nvCxnSpPr>
        <p:spPr>
          <a:xfrm>
            <a:off x="10076688" y="1651257"/>
            <a:ext cx="92682" cy="705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2F016B3-D1B5-CA9C-206A-DA9D2E673109}"/>
              </a:ext>
            </a:extLst>
          </p:cNvPr>
          <p:cNvCxnSpPr/>
          <p:nvPr/>
        </p:nvCxnSpPr>
        <p:spPr>
          <a:xfrm flipH="1">
            <a:off x="7985355" y="2688336"/>
            <a:ext cx="3214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7E52352-EC23-C8C6-452C-BB41751E7E60}"/>
              </a:ext>
            </a:extLst>
          </p:cNvPr>
          <p:cNvCxnSpPr/>
          <p:nvPr/>
        </p:nvCxnSpPr>
        <p:spPr>
          <a:xfrm>
            <a:off x="6611112" y="4278483"/>
            <a:ext cx="0" cy="290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BF2B2F5-969B-E548-E093-9BF79CA0CA12}"/>
              </a:ext>
            </a:extLst>
          </p:cNvPr>
          <p:cNvCxnSpPr/>
          <p:nvPr/>
        </p:nvCxnSpPr>
        <p:spPr>
          <a:xfrm>
            <a:off x="8188527" y="4965192"/>
            <a:ext cx="580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422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CD6C5-707F-95F1-E523-53FF1DDD1E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34B84-62ED-EEDD-9953-A7BFC83CCD66}"/>
              </a:ext>
            </a:extLst>
          </p:cNvPr>
          <p:cNvSpPr>
            <a:spLocks noGrp="1"/>
          </p:cNvSpPr>
          <p:nvPr>
            <p:ph type="title"/>
          </p:nvPr>
        </p:nvSpPr>
        <p:spPr>
          <a:xfrm>
            <a:off x="0" y="0"/>
            <a:ext cx="4644421" cy="587136"/>
          </a:xfrm>
        </p:spPr>
        <p:txBody>
          <a:bodyPr>
            <a:normAutofit/>
          </a:bodyPr>
          <a:lstStyle/>
          <a:p>
            <a:r>
              <a:rPr lang="en-SG" sz="1800" dirty="0"/>
              <a:t>Data analysis using pandas</a:t>
            </a:r>
          </a:p>
        </p:txBody>
      </p:sp>
      <p:sp>
        <p:nvSpPr>
          <p:cNvPr id="3" name="Content Placeholder 2">
            <a:extLst>
              <a:ext uri="{FF2B5EF4-FFF2-40B4-BE49-F238E27FC236}">
                <a16:creationId xmlns:a16="http://schemas.microsoft.com/office/drawing/2014/main" id="{1E6BF4CD-ADDE-9FB9-F8D8-0220D290E251}"/>
              </a:ext>
            </a:extLst>
          </p:cNvPr>
          <p:cNvSpPr>
            <a:spLocks noGrp="1"/>
          </p:cNvSpPr>
          <p:nvPr>
            <p:ph idx="1"/>
          </p:nvPr>
        </p:nvSpPr>
        <p:spPr>
          <a:xfrm>
            <a:off x="1" y="745326"/>
            <a:ext cx="5312664" cy="4814226"/>
          </a:xfrm>
        </p:spPr>
        <p:txBody>
          <a:bodyPr>
            <a:normAutofit fontScale="92500" lnSpcReduction="20000"/>
          </a:bodyPr>
          <a:lstStyle/>
          <a:p>
            <a:pPr>
              <a:buAutoNum type="arabicPeriod" startAt="7"/>
            </a:pPr>
            <a:r>
              <a:rPr lang="en-SG" sz="1800" dirty="0" err="1"/>
              <a:t>NaN</a:t>
            </a:r>
            <a:r>
              <a:rPr lang="en-SG" sz="1800" dirty="0"/>
              <a:t> values inside currency is dropped as there is no meaningful way to calculate salary for comparison without currency.</a:t>
            </a:r>
          </a:p>
          <a:p>
            <a:pPr>
              <a:buAutoNum type="arabicPeriod" startAt="7"/>
            </a:pPr>
            <a:endParaRPr lang="en-SG" sz="1800" dirty="0"/>
          </a:p>
          <a:p>
            <a:pPr>
              <a:buAutoNum type="arabicPeriod" startAt="7"/>
            </a:pPr>
            <a:r>
              <a:rPr lang="en-SG" sz="1800" dirty="0"/>
              <a:t>Found out that median salary can always be calculated using min and max salary as both min and max will exist when med does not while med will exist if the other two do not.</a:t>
            </a:r>
          </a:p>
          <a:p>
            <a:pPr>
              <a:buAutoNum type="arabicPeriod" startAt="7"/>
            </a:pPr>
            <a:r>
              <a:rPr lang="en-SG" sz="1800" dirty="0"/>
              <a:t>Filled in missing med using min and max salary.</a:t>
            </a:r>
          </a:p>
          <a:p>
            <a:pPr>
              <a:buFont typeface="Wingdings 3" charset="2"/>
              <a:buAutoNum type="arabicPeriod" startAt="7"/>
            </a:pPr>
            <a:r>
              <a:rPr lang="en-SG" sz="1800" dirty="0"/>
              <a:t>Conversion of all salary based on currency to USD for comparison later on.</a:t>
            </a:r>
          </a:p>
          <a:p>
            <a:pPr>
              <a:buFont typeface="Wingdings 3" charset="2"/>
              <a:buAutoNum type="arabicPeriod" startAt="7"/>
            </a:pPr>
            <a:r>
              <a:rPr lang="en-SG" sz="1800" dirty="0"/>
              <a:t>Conversion of all salary to annual based on pay period and work type for comparison later on. Conversion rates are based on US Standard work schedule.</a:t>
            </a:r>
          </a:p>
          <a:p>
            <a:pPr>
              <a:buFont typeface="Wingdings 3" charset="2"/>
              <a:buAutoNum type="arabicPeriod" startAt="7"/>
            </a:pPr>
            <a:r>
              <a:rPr lang="en-SG" sz="1800" dirty="0"/>
              <a:t>Filter for unrepresentative and unrealistic salary data so it wont distort future analysis.</a:t>
            </a:r>
          </a:p>
          <a:p>
            <a:pPr>
              <a:buAutoNum type="arabicPeriod" startAt="7"/>
            </a:pPr>
            <a:endParaRPr lang="en-SG" sz="1800" dirty="0"/>
          </a:p>
          <a:p>
            <a:endParaRPr lang="en-SG" sz="1800" dirty="0"/>
          </a:p>
        </p:txBody>
      </p:sp>
      <p:pic>
        <p:nvPicPr>
          <p:cNvPr id="5" name="Picture 4">
            <a:extLst>
              <a:ext uri="{FF2B5EF4-FFF2-40B4-BE49-F238E27FC236}">
                <a16:creationId xmlns:a16="http://schemas.microsoft.com/office/drawing/2014/main" id="{BF57B96B-E1C9-9870-A0C5-DFF20154A0F2}"/>
              </a:ext>
            </a:extLst>
          </p:cNvPr>
          <p:cNvPicPr>
            <a:picLocks noChangeAspect="1"/>
          </p:cNvPicPr>
          <p:nvPr/>
        </p:nvPicPr>
        <p:blipFill>
          <a:blip r:embed="rId2"/>
          <a:stretch>
            <a:fillRect/>
          </a:stretch>
        </p:blipFill>
        <p:spPr>
          <a:xfrm>
            <a:off x="5911478" y="520587"/>
            <a:ext cx="3052083" cy="494398"/>
          </a:xfrm>
          <a:prstGeom prst="rect">
            <a:avLst/>
          </a:prstGeom>
        </p:spPr>
      </p:pic>
      <p:pic>
        <p:nvPicPr>
          <p:cNvPr id="7" name="Picture 6">
            <a:extLst>
              <a:ext uri="{FF2B5EF4-FFF2-40B4-BE49-F238E27FC236}">
                <a16:creationId xmlns:a16="http://schemas.microsoft.com/office/drawing/2014/main" id="{389268C4-6ADC-90FC-12D6-5805300969B5}"/>
              </a:ext>
            </a:extLst>
          </p:cNvPr>
          <p:cNvPicPr>
            <a:picLocks noChangeAspect="1"/>
          </p:cNvPicPr>
          <p:nvPr/>
        </p:nvPicPr>
        <p:blipFill>
          <a:blip r:embed="rId3"/>
          <a:stretch>
            <a:fillRect/>
          </a:stretch>
        </p:blipFill>
        <p:spPr>
          <a:xfrm>
            <a:off x="9372600" y="355822"/>
            <a:ext cx="2412928" cy="823927"/>
          </a:xfrm>
          <a:prstGeom prst="rect">
            <a:avLst/>
          </a:prstGeom>
        </p:spPr>
      </p:pic>
      <p:pic>
        <p:nvPicPr>
          <p:cNvPr id="9" name="Picture 8">
            <a:extLst>
              <a:ext uri="{FF2B5EF4-FFF2-40B4-BE49-F238E27FC236}">
                <a16:creationId xmlns:a16="http://schemas.microsoft.com/office/drawing/2014/main" id="{114A1582-E62F-9A28-3796-E38A4436FE2B}"/>
              </a:ext>
            </a:extLst>
          </p:cNvPr>
          <p:cNvPicPr>
            <a:picLocks noChangeAspect="1"/>
          </p:cNvPicPr>
          <p:nvPr/>
        </p:nvPicPr>
        <p:blipFill>
          <a:blip r:embed="rId4"/>
          <a:stretch>
            <a:fillRect/>
          </a:stretch>
        </p:blipFill>
        <p:spPr>
          <a:xfrm>
            <a:off x="8853043" y="1911096"/>
            <a:ext cx="3186557" cy="1357502"/>
          </a:xfrm>
          <a:prstGeom prst="rect">
            <a:avLst/>
          </a:prstGeom>
        </p:spPr>
      </p:pic>
      <p:pic>
        <p:nvPicPr>
          <p:cNvPr id="11" name="Picture 10">
            <a:extLst>
              <a:ext uri="{FF2B5EF4-FFF2-40B4-BE49-F238E27FC236}">
                <a16:creationId xmlns:a16="http://schemas.microsoft.com/office/drawing/2014/main" id="{6F43D0BB-40CB-1E67-A680-A6B0CDD13F01}"/>
              </a:ext>
            </a:extLst>
          </p:cNvPr>
          <p:cNvPicPr>
            <a:picLocks noChangeAspect="1"/>
          </p:cNvPicPr>
          <p:nvPr/>
        </p:nvPicPr>
        <p:blipFill>
          <a:blip r:embed="rId5"/>
          <a:stretch>
            <a:fillRect/>
          </a:stretch>
        </p:blipFill>
        <p:spPr>
          <a:xfrm>
            <a:off x="6026575" y="1272732"/>
            <a:ext cx="2193881" cy="1995866"/>
          </a:xfrm>
          <a:prstGeom prst="rect">
            <a:avLst/>
          </a:prstGeom>
        </p:spPr>
      </p:pic>
      <p:pic>
        <p:nvPicPr>
          <p:cNvPr id="15" name="Picture 14">
            <a:extLst>
              <a:ext uri="{FF2B5EF4-FFF2-40B4-BE49-F238E27FC236}">
                <a16:creationId xmlns:a16="http://schemas.microsoft.com/office/drawing/2014/main" id="{33D7D060-95BC-CE32-ACC5-7A45F2694BE0}"/>
              </a:ext>
            </a:extLst>
          </p:cNvPr>
          <p:cNvPicPr>
            <a:picLocks noChangeAspect="1"/>
          </p:cNvPicPr>
          <p:nvPr/>
        </p:nvPicPr>
        <p:blipFill>
          <a:blip r:embed="rId6"/>
          <a:stretch>
            <a:fillRect/>
          </a:stretch>
        </p:blipFill>
        <p:spPr>
          <a:xfrm>
            <a:off x="8897675" y="3866891"/>
            <a:ext cx="2887853" cy="1933869"/>
          </a:xfrm>
          <a:prstGeom prst="rect">
            <a:avLst/>
          </a:prstGeom>
        </p:spPr>
      </p:pic>
      <p:cxnSp>
        <p:nvCxnSpPr>
          <p:cNvPr id="17" name="Straight Arrow Connector 16">
            <a:extLst>
              <a:ext uri="{FF2B5EF4-FFF2-40B4-BE49-F238E27FC236}">
                <a16:creationId xmlns:a16="http://schemas.microsoft.com/office/drawing/2014/main" id="{41E79F57-8893-40FC-F00F-7C05B68E6B53}"/>
              </a:ext>
            </a:extLst>
          </p:cNvPr>
          <p:cNvCxnSpPr>
            <a:endCxn id="7" idx="1"/>
          </p:cNvCxnSpPr>
          <p:nvPr/>
        </p:nvCxnSpPr>
        <p:spPr>
          <a:xfrm>
            <a:off x="9052560" y="745326"/>
            <a:ext cx="320040" cy="22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AE6D62A-FAEB-84BB-1316-AC4B2C69CC14}"/>
              </a:ext>
            </a:extLst>
          </p:cNvPr>
          <p:cNvCxnSpPr>
            <a:cxnSpLocks/>
          </p:cNvCxnSpPr>
          <p:nvPr/>
        </p:nvCxnSpPr>
        <p:spPr>
          <a:xfrm>
            <a:off x="10391457" y="1271102"/>
            <a:ext cx="40450" cy="548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26184FD-EBEF-F007-AD08-77CCE9AF9E8B}"/>
              </a:ext>
            </a:extLst>
          </p:cNvPr>
          <p:cNvCxnSpPr>
            <a:endCxn id="11" idx="3"/>
          </p:cNvCxnSpPr>
          <p:nvPr/>
        </p:nvCxnSpPr>
        <p:spPr>
          <a:xfrm flipH="1">
            <a:off x="8302752" y="2340864"/>
            <a:ext cx="4389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1875646-83FF-76DD-003A-8260F967E3C9}"/>
              </a:ext>
            </a:extLst>
          </p:cNvPr>
          <p:cNvCxnSpPr/>
          <p:nvPr/>
        </p:nvCxnSpPr>
        <p:spPr>
          <a:xfrm>
            <a:off x="6876288" y="3429000"/>
            <a:ext cx="64008" cy="437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60CF3A1-441F-8D46-1DE9-FF0CA5E722D2}"/>
              </a:ext>
            </a:extLst>
          </p:cNvPr>
          <p:cNvCxnSpPr/>
          <p:nvPr/>
        </p:nvCxnSpPr>
        <p:spPr>
          <a:xfrm>
            <a:off x="8220456" y="4700016"/>
            <a:ext cx="5212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468741D-5758-A7A0-7ADC-832095E1D836}"/>
              </a:ext>
            </a:extLst>
          </p:cNvPr>
          <p:cNvPicPr>
            <a:picLocks noChangeAspect="1"/>
          </p:cNvPicPr>
          <p:nvPr/>
        </p:nvPicPr>
        <p:blipFill>
          <a:blip r:embed="rId7"/>
          <a:stretch>
            <a:fillRect/>
          </a:stretch>
        </p:blipFill>
        <p:spPr>
          <a:xfrm>
            <a:off x="5650638" y="4027293"/>
            <a:ext cx="2515307" cy="1278695"/>
          </a:xfrm>
          <a:prstGeom prst="rect">
            <a:avLst/>
          </a:prstGeom>
        </p:spPr>
      </p:pic>
    </p:spTree>
    <p:extLst>
      <p:ext uri="{BB962C8B-B14F-4D97-AF65-F5344CB8AC3E}">
        <p14:creationId xmlns:p14="http://schemas.microsoft.com/office/powerpoint/2010/main" val="4102505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292B1-D5EF-C3BF-B555-8DD0FD56B9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877F0-9BD5-4D81-0EFF-2EF08037CCE1}"/>
              </a:ext>
            </a:extLst>
          </p:cNvPr>
          <p:cNvSpPr>
            <a:spLocks noGrp="1"/>
          </p:cNvSpPr>
          <p:nvPr>
            <p:ph type="title"/>
          </p:nvPr>
        </p:nvSpPr>
        <p:spPr>
          <a:xfrm>
            <a:off x="0" y="0"/>
            <a:ext cx="4644421" cy="587136"/>
          </a:xfrm>
        </p:spPr>
        <p:txBody>
          <a:bodyPr>
            <a:normAutofit/>
          </a:bodyPr>
          <a:lstStyle/>
          <a:p>
            <a:r>
              <a:rPr lang="en-SG" sz="1800" dirty="0"/>
              <a:t>Data analysis using pandas</a:t>
            </a:r>
          </a:p>
        </p:txBody>
      </p:sp>
      <p:sp>
        <p:nvSpPr>
          <p:cNvPr id="3" name="Content Placeholder 2">
            <a:extLst>
              <a:ext uri="{FF2B5EF4-FFF2-40B4-BE49-F238E27FC236}">
                <a16:creationId xmlns:a16="http://schemas.microsoft.com/office/drawing/2014/main" id="{1EBF5C1E-9742-43DB-6C4F-5EB3BD0CA483}"/>
              </a:ext>
            </a:extLst>
          </p:cNvPr>
          <p:cNvSpPr>
            <a:spLocks noGrp="1"/>
          </p:cNvSpPr>
          <p:nvPr>
            <p:ph idx="1"/>
          </p:nvPr>
        </p:nvSpPr>
        <p:spPr>
          <a:xfrm>
            <a:off x="88855" y="587136"/>
            <a:ext cx="6458250" cy="4181855"/>
          </a:xfrm>
        </p:spPr>
        <p:txBody>
          <a:bodyPr/>
          <a:lstStyle/>
          <a:p>
            <a:pPr marL="0" indent="0">
              <a:buNone/>
            </a:pPr>
            <a:r>
              <a:rPr lang="en-SG" dirty="0"/>
              <a:t>13. Using .</a:t>
            </a:r>
            <a:r>
              <a:rPr lang="en-SG" dirty="0" err="1"/>
              <a:t>value_counts</a:t>
            </a:r>
            <a:r>
              <a:rPr lang="en-SG" dirty="0"/>
              <a:t>(), it is revealed that remote 	allowed column has too many </a:t>
            </a:r>
            <a:r>
              <a:rPr lang="en-SG" dirty="0" err="1"/>
              <a:t>NaN</a:t>
            </a:r>
            <a:r>
              <a:rPr lang="en-SG" dirty="0"/>
              <a:t> values for 	us to drop.</a:t>
            </a:r>
          </a:p>
          <a:p>
            <a:pPr marL="0" indent="0">
              <a:buNone/>
            </a:pPr>
            <a:r>
              <a:rPr lang="en-SG" dirty="0"/>
              <a:t>14. Hence they are filled in with ‘0’ instead.</a:t>
            </a:r>
          </a:p>
          <a:p>
            <a:pPr marL="0" indent="0">
              <a:buNone/>
            </a:pPr>
            <a:r>
              <a:rPr lang="en-SG" dirty="0"/>
              <a:t>15. Same case for experience level, we will fill </a:t>
            </a:r>
            <a:r>
              <a:rPr lang="en-SG" dirty="0" err="1"/>
              <a:t>NaN</a:t>
            </a:r>
            <a:r>
              <a:rPr lang="en-SG" dirty="0"/>
              <a:t> 	values with ‘Unknown’ instead of dropping as 	data can still be useful later on.</a:t>
            </a:r>
          </a:p>
          <a:p>
            <a:pPr marL="0" indent="0">
              <a:buNone/>
            </a:pPr>
            <a:r>
              <a:rPr lang="en-SG" dirty="0"/>
              <a:t>16. There are too many jobs hence we map each 	job to a category so it can meaningfully 	analysed later on.</a:t>
            </a:r>
          </a:p>
        </p:txBody>
      </p:sp>
      <p:pic>
        <p:nvPicPr>
          <p:cNvPr id="7" name="Picture 6">
            <a:extLst>
              <a:ext uri="{FF2B5EF4-FFF2-40B4-BE49-F238E27FC236}">
                <a16:creationId xmlns:a16="http://schemas.microsoft.com/office/drawing/2014/main" id="{E4707060-0FEC-7EEC-434A-CF04F1AF5730}"/>
              </a:ext>
            </a:extLst>
          </p:cNvPr>
          <p:cNvPicPr>
            <a:picLocks noChangeAspect="1"/>
          </p:cNvPicPr>
          <p:nvPr/>
        </p:nvPicPr>
        <p:blipFill>
          <a:blip r:embed="rId2"/>
          <a:stretch>
            <a:fillRect/>
          </a:stretch>
        </p:blipFill>
        <p:spPr>
          <a:xfrm>
            <a:off x="8095993" y="447360"/>
            <a:ext cx="3111639" cy="967131"/>
          </a:xfrm>
          <a:prstGeom prst="rect">
            <a:avLst/>
          </a:prstGeom>
        </p:spPr>
      </p:pic>
      <p:pic>
        <p:nvPicPr>
          <p:cNvPr id="9" name="Picture 8">
            <a:extLst>
              <a:ext uri="{FF2B5EF4-FFF2-40B4-BE49-F238E27FC236}">
                <a16:creationId xmlns:a16="http://schemas.microsoft.com/office/drawing/2014/main" id="{922ACBD3-8C2B-2591-F18C-7D708E3E3E63}"/>
              </a:ext>
            </a:extLst>
          </p:cNvPr>
          <p:cNvPicPr>
            <a:picLocks noChangeAspect="1"/>
          </p:cNvPicPr>
          <p:nvPr/>
        </p:nvPicPr>
        <p:blipFill>
          <a:blip r:embed="rId3"/>
          <a:stretch>
            <a:fillRect/>
          </a:stretch>
        </p:blipFill>
        <p:spPr>
          <a:xfrm>
            <a:off x="7496013" y="1911799"/>
            <a:ext cx="4460753" cy="766264"/>
          </a:xfrm>
          <a:prstGeom prst="rect">
            <a:avLst/>
          </a:prstGeom>
        </p:spPr>
      </p:pic>
      <p:pic>
        <p:nvPicPr>
          <p:cNvPr id="11" name="Picture 10">
            <a:extLst>
              <a:ext uri="{FF2B5EF4-FFF2-40B4-BE49-F238E27FC236}">
                <a16:creationId xmlns:a16="http://schemas.microsoft.com/office/drawing/2014/main" id="{8D84B8DE-8F80-64DF-E2ED-D0234B0FB540}"/>
              </a:ext>
            </a:extLst>
          </p:cNvPr>
          <p:cNvPicPr>
            <a:picLocks noChangeAspect="1"/>
          </p:cNvPicPr>
          <p:nvPr/>
        </p:nvPicPr>
        <p:blipFill>
          <a:blip r:embed="rId4"/>
          <a:stretch>
            <a:fillRect/>
          </a:stretch>
        </p:blipFill>
        <p:spPr>
          <a:xfrm>
            <a:off x="6881812" y="3224932"/>
            <a:ext cx="5310188" cy="507591"/>
          </a:xfrm>
          <a:prstGeom prst="rect">
            <a:avLst/>
          </a:prstGeom>
        </p:spPr>
      </p:pic>
      <p:pic>
        <p:nvPicPr>
          <p:cNvPr id="13" name="Picture 12">
            <a:extLst>
              <a:ext uri="{FF2B5EF4-FFF2-40B4-BE49-F238E27FC236}">
                <a16:creationId xmlns:a16="http://schemas.microsoft.com/office/drawing/2014/main" id="{48319475-7793-4B4E-5F7C-EAE6E060994C}"/>
              </a:ext>
            </a:extLst>
          </p:cNvPr>
          <p:cNvPicPr>
            <a:picLocks noChangeAspect="1"/>
          </p:cNvPicPr>
          <p:nvPr/>
        </p:nvPicPr>
        <p:blipFill>
          <a:blip r:embed="rId5"/>
          <a:stretch>
            <a:fillRect/>
          </a:stretch>
        </p:blipFill>
        <p:spPr>
          <a:xfrm>
            <a:off x="8095993" y="4279393"/>
            <a:ext cx="3202475" cy="1931044"/>
          </a:xfrm>
          <a:prstGeom prst="rect">
            <a:avLst/>
          </a:prstGeom>
        </p:spPr>
      </p:pic>
      <p:cxnSp>
        <p:nvCxnSpPr>
          <p:cNvPr id="15" name="Straight Arrow Connector 14">
            <a:extLst>
              <a:ext uri="{FF2B5EF4-FFF2-40B4-BE49-F238E27FC236}">
                <a16:creationId xmlns:a16="http://schemas.microsoft.com/office/drawing/2014/main" id="{7B030135-3661-C921-0261-BDDAFCE7719A}"/>
              </a:ext>
            </a:extLst>
          </p:cNvPr>
          <p:cNvCxnSpPr>
            <a:endCxn id="9" idx="0"/>
          </p:cNvCxnSpPr>
          <p:nvPr/>
        </p:nvCxnSpPr>
        <p:spPr>
          <a:xfrm>
            <a:off x="9697230" y="1545336"/>
            <a:ext cx="0" cy="27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922B653-D5D9-97D3-953D-0275FEB65E40}"/>
              </a:ext>
            </a:extLst>
          </p:cNvPr>
          <p:cNvCxnSpPr/>
          <p:nvPr/>
        </p:nvCxnSpPr>
        <p:spPr>
          <a:xfrm>
            <a:off x="9651812" y="2761488"/>
            <a:ext cx="0" cy="384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3F77D9B-8440-1F93-EB25-202329250AE7}"/>
              </a:ext>
            </a:extLst>
          </p:cNvPr>
          <p:cNvCxnSpPr/>
          <p:nvPr/>
        </p:nvCxnSpPr>
        <p:spPr>
          <a:xfrm>
            <a:off x="9829800" y="3831336"/>
            <a:ext cx="0" cy="329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951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F2D6A-FD9E-DBB2-3CD1-495230EEF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EF500-45F7-C414-1132-8DC40D23EE67}"/>
              </a:ext>
            </a:extLst>
          </p:cNvPr>
          <p:cNvSpPr>
            <a:spLocks noGrp="1"/>
          </p:cNvSpPr>
          <p:nvPr>
            <p:ph type="title"/>
          </p:nvPr>
        </p:nvSpPr>
        <p:spPr>
          <a:xfrm>
            <a:off x="0" y="0"/>
            <a:ext cx="4644421" cy="587136"/>
          </a:xfrm>
        </p:spPr>
        <p:txBody>
          <a:bodyPr>
            <a:normAutofit/>
          </a:bodyPr>
          <a:lstStyle/>
          <a:p>
            <a:r>
              <a:rPr lang="en-SG" sz="1800" dirty="0"/>
              <a:t>Data analysis using matplotlib</a:t>
            </a:r>
          </a:p>
        </p:txBody>
      </p:sp>
      <p:sp>
        <p:nvSpPr>
          <p:cNvPr id="3" name="Content Placeholder 2">
            <a:extLst>
              <a:ext uri="{FF2B5EF4-FFF2-40B4-BE49-F238E27FC236}">
                <a16:creationId xmlns:a16="http://schemas.microsoft.com/office/drawing/2014/main" id="{F33DA5E4-DE01-97BE-5045-2839F123F9A6}"/>
              </a:ext>
            </a:extLst>
          </p:cNvPr>
          <p:cNvSpPr>
            <a:spLocks noGrp="1"/>
          </p:cNvSpPr>
          <p:nvPr>
            <p:ph idx="1"/>
          </p:nvPr>
        </p:nvSpPr>
        <p:spPr>
          <a:xfrm>
            <a:off x="249872" y="3941064"/>
            <a:ext cx="5846128" cy="2432609"/>
          </a:xfrm>
        </p:spPr>
        <p:txBody>
          <a:bodyPr>
            <a:normAutofit fontScale="92500" lnSpcReduction="20000"/>
          </a:bodyPr>
          <a:lstStyle/>
          <a:p>
            <a:r>
              <a:rPr lang="en-US" b="1" dirty="0"/>
              <a:t>1. Distribution of Annual Salary (Histogram)</a:t>
            </a:r>
          </a:p>
          <a:p>
            <a:r>
              <a:rPr lang="en-US" b="1" dirty="0"/>
              <a:t>Description:</a:t>
            </a:r>
            <a:br>
              <a:rPr lang="en-US" dirty="0"/>
            </a:br>
            <a:r>
              <a:rPr lang="en-US" dirty="0"/>
              <a:t>This chart shows the overall spread of annual salaries in the job market. Most roles fall within the </a:t>
            </a:r>
            <a:r>
              <a:rPr lang="en-US" b="1" dirty="0"/>
              <a:t>$40k–$120k</a:t>
            </a:r>
            <a:r>
              <a:rPr lang="en-US" dirty="0"/>
              <a:t> range, with fewer high-paying positions above $150k. The distribution is right-skewed, indicating that </a:t>
            </a:r>
            <a:r>
              <a:rPr lang="en-US" b="1" dirty="0"/>
              <a:t>mid-range salaries dominate</a:t>
            </a:r>
            <a:r>
              <a:rPr lang="en-US" dirty="0"/>
              <a:t>, while very high salaries are rare.</a:t>
            </a:r>
          </a:p>
          <a:p>
            <a:endParaRPr lang="en-SG" dirty="0"/>
          </a:p>
        </p:txBody>
      </p:sp>
      <p:sp>
        <p:nvSpPr>
          <p:cNvPr id="8" name="Content Placeholder 2">
            <a:extLst>
              <a:ext uri="{FF2B5EF4-FFF2-40B4-BE49-F238E27FC236}">
                <a16:creationId xmlns:a16="http://schemas.microsoft.com/office/drawing/2014/main" id="{A43EBDE2-59B5-3922-2880-0A7A0803B2B7}"/>
              </a:ext>
            </a:extLst>
          </p:cNvPr>
          <p:cNvSpPr txBox="1">
            <a:spLocks/>
          </p:cNvSpPr>
          <p:nvPr/>
        </p:nvSpPr>
        <p:spPr>
          <a:xfrm>
            <a:off x="6096000" y="3941063"/>
            <a:ext cx="5846128" cy="2432609"/>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b="1" dirty="0"/>
              <a:t>2. Average Annual Salary by Job Category (Bar Chart)</a:t>
            </a:r>
          </a:p>
          <a:p>
            <a:r>
              <a:rPr lang="en-US" b="1" dirty="0"/>
              <a:t>Description:</a:t>
            </a:r>
            <a:br>
              <a:rPr lang="en-US" dirty="0"/>
            </a:br>
            <a:r>
              <a:rPr lang="en-US" dirty="0"/>
              <a:t>This visual compares salary levels across job categories. Higher-paying sectors include </a:t>
            </a:r>
            <a:r>
              <a:rPr lang="en-US" b="1" dirty="0"/>
              <a:t>Legal/Compliance/Security, Management, IT/Technology, Engineering, and Healthcare</a:t>
            </a:r>
            <a:r>
              <a:rPr lang="en-US" dirty="0"/>
              <a:t>, while lower-paying categories include </a:t>
            </a:r>
            <a:r>
              <a:rPr lang="en-US" b="1" dirty="0"/>
              <a:t>Food Service, Customer Service, and Transportation</a:t>
            </a:r>
            <a:r>
              <a:rPr lang="en-US" dirty="0"/>
              <a:t>. This shows that </a:t>
            </a:r>
            <a:r>
              <a:rPr lang="en-US" b="1" dirty="0"/>
              <a:t>industry type strongly influences earnings</a:t>
            </a:r>
            <a:r>
              <a:rPr lang="en-US" dirty="0"/>
              <a:t>.</a:t>
            </a:r>
          </a:p>
          <a:p>
            <a:endParaRPr lang="en-SG" dirty="0"/>
          </a:p>
        </p:txBody>
      </p:sp>
      <p:pic>
        <p:nvPicPr>
          <p:cNvPr id="10" name="Picture 9">
            <a:extLst>
              <a:ext uri="{FF2B5EF4-FFF2-40B4-BE49-F238E27FC236}">
                <a16:creationId xmlns:a16="http://schemas.microsoft.com/office/drawing/2014/main" id="{D07C11DB-283A-4FE5-2670-74005C9BEC85}"/>
              </a:ext>
            </a:extLst>
          </p:cNvPr>
          <p:cNvPicPr>
            <a:picLocks noChangeAspect="1"/>
          </p:cNvPicPr>
          <p:nvPr/>
        </p:nvPicPr>
        <p:blipFill>
          <a:blip r:embed="rId2"/>
          <a:stretch>
            <a:fillRect/>
          </a:stretch>
        </p:blipFill>
        <p:spPr>
          <a:xfrm>
            <a:off x="486365" y="484327"/>
            <a:ext cx="5373141" cy="3195988"/>
          </a:xfrm>
          <a:prstGeom prst="rect">
            <a:avLst/>
          </a:prstGeom>
        </p:spPr>
      </p:pic>
      <p:pic>
        <p:nvPicPr>
          <p:cNvPr id="12" name="Picture 11">
            <a:extLst>
              <a:ext uri="{FF2B5EF4-FFF2-40B4-BE49-F238E27FC236}">
                <a16:creationId xmlns:a16="http://schemas.microsoft.com/office/drawing/2014/main" id="{1EEE3C1D-599C-BE71-B21F-B739DAADAC2B}"/>
              </a:ext>
            </a:extLst>
          </p:cNvPr>
          <p:cNvPicPr>
            <a:picLocks noChangeAspect="1"/>
          </p:cNvPicPr>
          <p:nvPr/>
        </p:nvPicPr>
        <p:blipFill>
          <a:blip r:embed="rId3"/>
          <a:stretch>
            <a:fillRect/>
          </a:stretch>
        </p:blipFill>
        <p:spPr>
          <a:xfrm>
            <a:off x="6214481" y="664848"/>
            <a:ext cx="5727647" cy="2834945"/>
          </a:xfrm>
          <a:prstGeom prst="rect">
            <a:avLst/>
          </a:prstGeom>
        </p:spPr>
      </p:pic>
    </p:spTree>
    <p:extLst>
      <p:ext uri="{BB962C8B-B14F-4D97-AF65-F5344CB8AC3E}">
        <p14:creationId xmlns:p14="http://schemas.microsoft.com/office/powerpoint/2010/main" val="2096667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81F73-29E1-2E13-FA03-57AAE5334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1A028-09B4-E00C-906E-05A67E6C50DD}"/>
              </a:ext>
            </a:extLst>
          </p:cNvPr>
          <p:cNvSpPr>
            <a:spLocks noGrp="1"/>
          </p:cNvSpPr>
          <p:nvPr>
            <p:ph type="title"/>
          </p:nvPr>
        </p:nvSpPr>
        <p:spPr>
          <a:xfrm>
            <a:off x="0" y="0"/>
            <a:ext cx="4644421" cy="587136"/>
          </a:xfrm>
        </p:spPr>
        <p:txBody>
          <a:bodyPr>
            <a:normAutofit/>
          </a:bodyPr>
          <a:lstStyle/>
          <a:p>
            <a:r>
              <a:rPr lang="en-SG" sz="1800" dirty="0"/>
              <a:t>Data analysis using matplotlib</a:t>
            </a:r>
          </a:p>
        </p:txBody>
      </p:sp>
      <p:sp>
        <p:nvSpPr>
          <p:cNvPr id="3" name="Content Placeholder 2">
            <a:extLst>
              <a:ext uri="{FF2B5EF4-FFF2-40B4-BE49-F238E27FC236}">
                <a16:creationId xmlns:a16="http://schemas.microsoft.com/office/drawing/2014/main" id="{445AA9E3-EAF6-41A9-5C42-5AB4D5DA0919}"/>
              </a:ext>
            </a:extLst>
          </p:cNvPr>
          <p:cNvSpPr>
            <a:spLocks noGrp="1"/>
          </p:cNvSpPr>
          <p:nvPr>
            <p:ph idx="1"/>
          </p:nvPr>
        </p:nvSpPr>
        <p:spPr>
          <a:xfrm>
            <a:off x="409924" y="3753528"/>
            <a:ext cx="5294376" cy="2604599"/>
          </a:xfrm>
        </p:spPr>
        <p:txBody>
          <a:bodyPr>
            <a:normAutofit fontScale="92500" lnSpcReduction="20000"/>
          </a:bodyPr>
          <a:lstStyle/>
          <a:p>
            <a:pPr>
              <a:buFont typeface="Wingdings" panose="05000000000000000000" pitchFamily="2" charset="2"/>
              <a:buChar char="Ø"/>
            </a:pPr>
            <a:r>
              <a:rPr lang="en-US" b="1" dirty="0"/>
              <a:t>	3. Average Annual Salary by Experience Level (Line Chart)</a:t>
            </a:r>
          </a:p>
          <a:p>
            <a:pPr>
              <a:buFont typeface="Wingdings" panose="05000000000000000000" pitchFamily="2" charset="2"/>
              <a:buChar char="Ø"/>
            </a:pPr>
            <a:r>
              <a:rPr lang="en-US" b="1" dirty="0"/>
              <a:t>Description:</a:t>
            </a:r>
            <a:br>
              <a:rPr lang="en-US" dirty="0"/>
            </a:br>
            <a:r>
              <a:rPr lang="en-US" dirty="0"/>
              <a:t>The line chart displays a </a:t>
            </a:r>
            <a:r>
              <a:rPr lang="en-US" b="1" dirty="0"/>
              <a:t>clear upward salary progression</a:t>
            </a:r>
            <a:r>
              <a:rPr lang="en-US" dirty="0"/>
              <a:t> from Internship → Executive roles. Each step in seniority results in higher pay, with executive roles earning nearly </a:t>
            </a:r>
            <a:r>
              <a:rPr lang="en-US" b="1" dirty="0"/>
              <a:t>four times</a:t>
            </a:r>
            <a:r>
              <a:rPr lang="en-US" dirty="0"/>
              <a:t> more than interns. Experience level is one of the </a:t>
            </a:r>
            <a:r>
              <a:rPr lang="en-US" b="1" dirty="0"/>
              <a:t>most important predictors</a:t>
            </a:r>
            <a:r>
              <a:rPr lang="en-US" dirty="0"/>
              <a:t> of salary.</a:t>
            </a:r>
          </a:p>
          <a:p>
            <a:endParaRPr lang="en-SG" dirty="0"/>
          </a:p>
        </p:txBody>
      </p:sp>
      <p:sp>
        <p:nvSpPr>
          <p:cNvPr id="9" name="TextBox 8">
            <a:extLst>
              <a:ext uri="{FF2B5EF4-FFF2-40B4-BE49-F238E27FC236}">
                <a16:creationId xmlns:a16="http://schemas.microsoft.com/office/drawing/2014/main" id="{6539450E-2A06-5CBC-6A85-22D33C0868AC}"/>
              </a:ext>
            </a:extLst>
          </p:cNvPr>
          <p:cNvSpPr txBox="1"/>
          <p:nvPr/>
        </p:nvSpPr>
        <p:spPr>
          <a:xfrm>
            <a:off x="5704300" y="3753528"/>
            <a:ext cx="6117336" cy="2585323"/>
          </a:xfrm>
          <a:prstGeom prst="rect">
            <a:avLst/>
          </a:prstGeom>
          <a:noFill/>
        </p:spPr>
        <p:txBody>
          <a:bodyPr wrap="square">
            <a:spAutoFit/>
          </a:bodyPr>
          <a:lstStyle/>
          <a:p>
            <a:pPr marL="285750" indent="-285750">
              <a:buFont typeface="Wingdings" panose="05000000000000000000" pitchFamily="2" charset="2"/>
              <a:buChar char="Ø"/>
            </a:pPr>
            <a:r>
              <a:rPr lang="en-US" b="1" dirty="0"/>
              <a:t>4. Annual Salary by Work Type (Box Plot)</a:t>
            </a:r>
          </a:p>
          <a:p>
            <a:pPr marL="285750" indent="-285750">
              <a:buFont typeface="Wingdings" panose="05000000000000000000" pitchFamily="2" charset="2"/>
              <a:buChar char="Ø"/>
            </a:pPr>
            <a:r>
              <a:rPr lang="en-US" b="1" dirty="0"/>
              <a:t>Description:</a:t>
            </a:r>
            <a:br>
              <a:rPr lang="en-US" dirty="0"/>
            </a:br>
            <a:r>
              <a:rPr lang="en-US" dirty="0"/>
              <a:t>This boxplot compares salary distributions across work types. </a:t>
            </a:r>
            <a:r>
              <a:rPr lang="en-US"/>
              <a:t>Contract and </a:t>
            </a:r>
            <a:r>
              <a:rPr lang="en-US" b="1"/>
              <a:t>Full-time </a:t>
            </a:r>
            <a:r>
              <a:rPr lang="en-US" b="1" dirty="0"/>
              <a:t>roles</a:t>
            </a:r>
            <a:r>
              <a:rPr lang="en-US" dirty="0"/>
              <a:t> show the widest range and highest salaries, including many high-value outliers. Part-time roles have lower median salaries, while internships and volunteer roles offer minimal compensation. This indicates that </a:t>
            </a:r>
            <a:r>
              <a:rPr lang="en-US" b="1" dirty="0"/>
              <a:t>work type significantly impacts pay</a:t>
            </a:r>
            <a:r>
              <a:rPr lang="en-US" dirty="0"/>
              <a:t>.</a:t>
            </a:r>
          </a:p>
        </p:txBody>
      </p:sp>
      <p:pic>
        <p:nvPicPr>
          <p:cNvPr id="6" name="Picture 5">
            <a:extLst>
              <a:ext uri="{FF2B5EF4-FFF2-40B4-BE49-F238E27FC236}">
                <a16:creationId xmlns:a16="http://schemas.microsoft.com/office/drawing/2014/main" id="{6857E627-3989-3EC7-BE63-8A1A553CA9D9}"/>
              </a:ext>
            </a:extLst>
          </p:cNvPr>
          <p:cNvPicPr>
            <a:picLocks noChangeAspect="1"/>
          </p:cNvPicPr>
          <p:nvPr/>
        </p:nvPicPr>
        <p:blipFill>
          <a:blip r:embed="rId2"/>
          <a:stretch>
            <a:fillRect/>
          </a:stretch>
        </p:blipFill>
        <p:spPr>
          <a:xfrm>
            <a:off x="409924" y="499873"/>
            <a:ext cx="5294376" cy="3111513"/>
          </a:xfrm>
          <a:prstGeom prst="rect">
            <a:avLst/>
          </a:prstGeom>
        </p:spPr>
      </p:pic>
      <p:pic>
        <p:nvPicPr>
          <p:cNvPr id="10" name="Picture 9">
            <a:extLst>
              <a:ext uri="{FF2B5EF4-FFF2-40B4-BE49-F238E27FC236}">
                <a16:creationId xmlns:a16="http://schemas.microsoft.com/office/drawing/2014/main" id="{12E3882F-479F-0CFF-9995-7387EE165C09}"/>
              </a:ext>
            </a:extLst>
          </p:cNvPr>
          <p:cNvPicPr>
            <a:picLocks noChangeAspect="1"/>
          </p:cNvPicPr>
          <p:nvPr/>
        </p:nvPicPr>
        <p:blipFill>
          <a:blip r:embed="rId3"/>
          <a:stretch>
            <a:fillRect/>
          </a:stretch>
        </p:blipFill>
        <p:spPr>
          <a:xfrm>
            <a:off x="6926703" y="816890"/>
            <a:ext cx="3431197" cy="2477478"/>
          </a:xfrm>
          <a:prstGeom prst="rect">
            <a:avLst/>
          </a:prstGeom>
        </p:spPr>
      </p:pic>
    </p:spTree>
    <p:extLst>
      <p:ext uri="{BB962C8B-B14F-4D97-AF65-F5344CB8AC3E}">
        <p14:creationId xmlns:p14="http://schemas.microsoft.com/office/powerpoint/2010/main" val="2597785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24070-28FF-E87E-DE47-57A42FBD1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BC2D9-3A13-3CA5-C879-C3BFAC2A493B}"/>
              </a:ext>
            </a:extLst>
          </p:cNvPr>
          <p:cNvSpPr>
            <a:spLocks noGrp="1"/>
          </p:cNvSpPr>
          <p:nvPr>
            <p:ph type="title"/>
          </p:nvPr>
        </p:nvSpPr>
        <p:spPr>
          <a:xfrm>
            <a:off x="0" y="0"/>
            <a:ext cx="4644421" cy="587136"/>
          </a:xfrm>
        </p:spPr>
        <p:txBody>
          <a:bodyPr>
            <a:normAutofit/>
          </a:bodyPr>
          <a:lstStyle/>
          <a:p>
            <a:r>
              <a:rPr lang="en-SG" sz="1800" dirty="0"/>
              <a:t>Data analysis using matplotlib</a:t>
            </a:r>
          </a:p>
        </p:txBody>
      </p:sp>
      <p:sp>
        <p:nvSpPr>
          <p:cNvPr id="3" name="Content Placeholder 2">
            <a:extLst>
              <a:ext uri="{FF2B5EF4-FFF2-40B4-BE49-F238E27FC236}">
                <a16:creationId xmlns:a16="http://schemas.microsoft.com/office/drawing/2014/main" id="{1090C1FA-F90E-93A0-7291-C47A399C7675}"/>
              </a:ext>
            </a:extLst>
          </p:cNvPr>
          <p:cNvSpPr>
            <a:spLocks noGrp="1"/>
          </p:cNvSpPr>
          <p:nvPr>
            <p:ph idx="1"/>
          </p:nvPr>
        </p:nvSpPr>
        <p:spPr>
          <a:xfrm>
            <a:off x="503970" y="3776472"/>
            <a:ext cx="5485349" cy="2270759"/>
          </a:xfrm>
        </p:spPr>
        <p:txBody>
          <a:bodyPr>
            <a:normAutofit fontScale="77500" lnSpcReduction="20000"/>
          </a:bodyPr>
          <a:lstStyle/>
          <a:p>
            <a:r>
              <a:rPr lang="en-US" b="1" dirty="0"/>
              <a:t>5. Distribution of Experience Levels (Pie Chart ≥1%)</a:t>
            </a:r>
          </a:p>
          <a:p>
            <a:r>
              <a:rPr lang="en-US" b="1" dirty="0"/>
              <a:t>Description:</a:t>
            </a:r>
            <a:br>
              <a:rPr lang="en-US" dirty="0"/>
            </a:br>
            <a:r>
              <a:rPr lang="en-US" dirty="0"/>
              <a:t>This pie chart shows the proportion of experience levels in the dataset. Most roles fall under </a:t>
            </a:r>
            <a:r>
              <a:rPr lang="en-US" b="1" dirty="0"/>
              <a:t>Mid-Senior level</a:t>
            </a:r>
            <a:r>
              <a:rPr lang="en-US" dirty="0"/>
              <a:t>, followed by </a:t>
            </a:r>
            <a:r>
              <a:rPr lang="en-US" b="1" dirty="0"/>
              <a:t>Entry level</a:t>
            </a:r>
            <a:r>
              <a:rPr lang="en-US" dirty="0"/>
              <a:t> and </a:t>
            </a:r>
            <a:r>
              <a:rPr lang="en-US" b="1" dirty="0"/>
              <a:t>Associate</a:t>
            </a:r>
            <a:r>
              <a:rPr lang="en-US" dirty="0"/>
              <a:t>. Higher positions such as </a:t>
            </a:r>
            <a:r>
              <a:rPr lang="en-US" b="1" dirty="0"/>
              <a:t>Director</a:t>
            </a:r>
            <a:r>
              <a:rPr lang="en-US" dirty="0"/>
              <a:t> and </a:t>
            </a:r>
            <a:r>
              <a:rPr lang="en-US" b="1" dirty="0"/>
              <a:t>Executive</a:t>
            </a:r>
            <a:r>
              <a:rPr lang="en-US" dirty="0"/>
              <a:t> appear far less frequently, explaining why overall salary levels remain </a:t>
            </a:r>
            <a:r>
              <a:rPr lang="en-US" dirty="0" err="1"/>
              <a:t>centred</a:t>
            </a:r>
            <a:r>
              <a:rPr lang="en-US" dirty="0"/>
              <a:t> around mid-range values.</a:t>
            </a:r>
          </a:p>
          <a:p>
            <a:endParaRPr lang="en-SG" dirty="0"/>
          </a:p>
        </p:txBody>
      </p:sp>
      <p:sp>
        <p:nvSpPr>
          <p:cNvPr id="9" name="TextBox 8">
            <a:extLst>
              <a:ext uri="{FF2B5EF4-FFF2-40B4-BE49-F238E27FC236}">
                <a16:creationId xmlns:a16="http://schemas.microsoft.com/office/drawing/2014/main" id="{9745A9B4-6481-9F18-0D48-53B5B682BC45}"/>
              </a:ext>
            </a:extLst>
          </p:cNvPr>
          <p:cNvSpPr txBox="1"/>
          <p:nvPr/>
        </p:nvSpPr>
        <p:spPr>
          <a:xfrm>
            <a:off x="6827909" y="3648456"/>
            <a:ext cx="4485863" cy="2800767"/>
          </a:xfrm>
          <a:prstGeom prst="rect">
            <a:avLst/>
          </a:prstGeom>
          <a:noFill/>
        </p:spPr>
        <p:txBody>
          <a:bodyPr wrap="square">
            <a:spAutoFit/>
          </a:bodyPr>
          <a:lstStyle/>
          <a:p>
            <a:pPr marL="285750" indent="-285750">
              <a:buFont typeface="Wingdings" panose="05000000000000000000" pitchFamily="2" charset="2"/>
              <a:buChar char="Ø"/>
            </a:pPr>
            <a:r>
              <a:rPr lang="en-US" sz="1600" b="1" dirty="0"/>
              <a:t>6. Work Type Distribution for Mid-Senior Level Roles (Bar Chart)</a:t>
            </a:r>
          </a:p>
          <a:p>
            <a:pPr marL="285750" indent="-285750">
              <a:buFont typeface="Wingdings" panose="05000000000000000000" pitchFamily="2" charset="2"/>
              <a:buChar char="Ø"/>
            </a:pPr>
            <a:r>
              <a:rPr lang="en-US" sz="1600" b="1" dirty="0"/>
              <a:t>Description:</a:t>
            </a:r>
            <a:br>
              <a:rPr lang="en-US" sz="1600" dirty="0"/>
            </a:br>
            <a:r>
              <a:rPr lang="en-US" sz="1600" dirty="0"/>
              <a:t>This chart highlights work types within Mid-Senior level jobs. The majority of these positions are </a:t>
            </a:r>
            <a:r>
              <a:rPr lang="en-US" sz="1600" b="1" dirty="0"/>
              <a:t>full-time</a:t>
            </a:r>
            <a:r>
              <a:rPr lang="en-US" sz="1600" dirty="0"/>
              <a:t>, with significantly fewer contract, part-time, or temporary roles. This heavy concentration of full-time positions explains why the full-time salary boxplot contains many </a:t>
            </a:r>
            <a:r>
              <a:rPr lang="en-US" sz="1600" b="1" dirty="0"/>
              <a:t>upper salary outliers</a:t>
            </a:r>
            <a:r>
              <a:rPr lang="en-US" sz="1600" dirty="0"/>
              <a:t>.</a:t>
            </a:r>
          </a:p>
        </p:txBody>
      </p:sp>
      <p:pic>
        <p:nvPicPr>
          <p:cNvPr id="6" name="Picture 5">
            <a:extLst>
              <a:ext uri="{FF2B5EF4-FFF2-40B4-BE49-F238E27FC236}">
                <a16:creationId xmlns:a16="http://schemas.microsoft.com/office/drawing/2014/main" id="{DB08146C-014D-9FC2-C77D-73426664A76B}"/>
              </a:ext>
            </a:extLst>
          </p:cNvPr>
          <p:cNvPicPr>
            <a:picLocks noChangeAspect="1"/>
          </p:cNvPicPr>
          <p:nvPr/>
        </p:nvPicPr>
        <p:blipFill>
          <a:blip r:embed="rId2"/>
          <a:stretch>
            <a:fillRect/>
          </a:stretch>
        </p:blipFill>
        <p:spPr>
          <a:xfrm>
            <a:off x="1115568" y="402081"/>
            <a:ext cx="4033375" cy="3246375"/>
          </a:xfrm>
          <a:prstGeom prst="rect">
            <a:avLst/>
          </a:prstGeom>
        </p:spPr>
      </p:pic>
      <p:pic>
        <p:nvPicPr>
          <p:cNvPr id="10" name="Picture 9">
            <a:extLst>
              <a:ext uri="{FF2B5EF4-FFF2-40B4-BE49-F238E27FC236}">
                <a16:creationId xmlns:a16="http://schemas.microsoft.com/office/drawing/2014/main" id="{1DF4BED8-94B7-5B18-ED46-D69F1F7E22DF}"/>
              </a:ext>
            </a:extLst>
          </p:cNvPr>
          <p:cNvPicPr>
            <a:picLocks noChangeAspect="1"/>
          </p:cNvPicPr>
          <p:nvPr/>
        </p:nvPicPr>
        <p:blipFill>
          <a:blip r:embed="rId3"/>
          <a:stretch>
            <a:fillRect/>
          </a:stretch>
        </p:blipFill>
        <p:spPr>
          <a:xfrm>
            <a:off x="7194153" y="863056"/>
            <a:ext cx="3753373" cy="2324424"/>
          </a:xfrm>
          <a:prstGeom prst="rect">
            <a:avLst/>
          </a:prstGeom>
        </p:spPr>
      </p:pic>
    </p:spTree>
    <p:extLst>
      <p:ext uri="{BB962C8B-B14F-4D97-AF65-F5344CB8AC3E}">
        <p14:creationId xmlns:p14="http://schemas.microsoft.com/office/powerpoint/2010/main" val="2872295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BD4FB-AF7C-01B4-E23D-0535472AA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9B8EF-C3DA-ED06-E5E2-3E11C2B0FD6C}"/>
              </a:ext>
            </a:extLst>
          </p:cNvPr>
          <p:cNvSpPr>
            <a:spLocks noGrp="1"/>
          </p:cNvSpPr>
          <p:nvPr>
            <p:ph type="title"/>
          </p:nvPr>
        </p:nvSpPr>
        <p:spPr>
          <a:xfrm>
            <a:off x="0" y="0"/>
            <a:ext cx="4644421" cy="587136"/>
          </a:xfrm>
        </p:spPr>
        <p:txBody>
          <a:bodyPr>
            <a:normAutofit/>
          </a:bodyPr>
          <a:lstStyle/>
          <a:p>
            <a:r>
              <a:rPr lang="en-SG" sz="1800" dirty="0"/>
              <a:t>Key insights</a:t>
            </a:r>
          </a:p>
        </p:txBody>
      </p:sp>
      <p:sp>
        <p:nvSpPr>
          <p:cNvPr id="19" name="TextBox 18">
            <a:extLst>
              <a:ext uri="{FF2B5EF4-FFF2-40B4-BE49-F238E27FC236}">
                <a16:creationId xmlns:a16="http://schemas.microsoft.com/office/drawing/2014/main" id="{9AC049DA-D9D6-FA10-459B-0AFD8AA3BF9E}"/>
              </a:ext>
            </a:extLst>
          </p:cNvPr>
          <p:cNvSpPr txBox="1"/>
          <p:nvPr/>
        </p:nvSpPr>
        <p:spPr>
          <a:xfrm>
            <a:off x="182880" y="493775"/>
            <a:ext cx="11393424" cy="6001643"/>
          </a:xfrm>
          <a:prstGeom prst="rect">
            <a:avLst/>
          </a:prstGeom>
          <a:noFill/>
        </p:spPr>
        <p:txBody>
          <a:bodyPr wrap="square">
            <a:spAutoFit/>
          </a:bodyPr>
          <a:lstStyle/>
          <a:p>
            <a:pPr>
              <a:buNone/>
            </a:pPr>
            <a:r>
              <a:rPr lang="en-US" sz="1600" b="1" dirty="0"/>
              <a:t>Overall Salary Patterns</a:t>
            </a:r>
          </a:p>
          <a:p>
            <a:pPr>
              <a:buFont typeface="Arial" panose="020B0604020202020204" pitchFamily="34" charset="0"/>
              <a:buChar char="•"/>
            </a:pPr>
            <a:r>
              <a:rPr lang="en-US" sz="1600" dirty="0"/>
              <a:t>Most salaries fall between </a:t>
            </a:r>
            <a:r>
              <a:rPr lang="en-US" sz="1600" b="1" dirty="0"/>
              <a:t>$40k–$120k</a:t>
            </a:r>
            <a:r>
              <a:rPr lang="en-US" sz="1600" dirty="0"/>
              <a:t>, with fewer high-paying roles above $150k.</a:t>
            </a:r>
          </a:p>
          <a:p>
            <a:pPr>
              <a:buFont typeface="Arial" panose="020B0604020202020204" pitchFamily="34" charset="0"/>
              <a:buChar char="•"/>
            </a:pPr>
            <a:r>
              <a:rPr lang="en-US" sz="1600" dirty="0"/>
              <a:t>Salary distribution is </a:t>
            </a:r>
            <a:r>
              <a:rPr lang="en-US" sz="1600" b="1" dirty="0"/>
              <a:t>right-skewed</a:t>
            </a:r>
            <a:r>
              <a:rPr lang="en-US" sz="1600" dirty="0"/>
              <a:t>, meaning mid-range roles dominate the market.</a:t>
            </a:r>
          </a:p>
          <a:p>
            <a:pPr>
              <a:buNone/>
            </a:pPr>
            <a:r>
              <a:rPr lang="en-US" sz="1600" b="1" dirty="0"/>
              <a:t>Job Category &amp; Salary</a:t>
            </a:r>
          </a:p>
          <a:p>
            <a:pPr>
              <a:buFont typeface="Arial" panose="020B0604020202020204" pitchFamily="34" charset="0"/>
              <a:buChar char="•"/>
            </a:pPr>
            <a:r>
              <a:rPr lang="en-US" sz="1600" b="1" dirty="0"/>
              <a:t>Highest-paying sectors:</a:t>
            </a:r>
            <a:r>
              <a:rPr lang="en-US" sz="1600" dirty="0"/>
              <a:t> Legal/Compliance/Security, Management, IT/Technology, Engineering, Healthcare.</a:t>
            </a:r>
          </a:p>
          <a:p>
            <a:pPr>
              <a:buFont typeface="Arial" panose="020B0604020202020204" pitchFamily="34" charset="0"/>
              <a:buChar char="•"/>
            </a:pPr>
            <a:r>
              <a:rPr lang="en-US" sz="1600" b="1" dirty="0"/>
              <a:t>Lowest-paying sectors:</a:t>
            </a:r>
            <a:r>
              <a:rPr lang="en-US" sz="1600" dirty="0"/>
              <a:t> Food Service, Customer Service/Admin, Transportation.</a:t>
            </a:r>
          </a:p>
          <a:p>
            <a:pPr>
              <a:buFont typeface="Arial" panose="020B0604020202020204" pitchFamily="34" charset="0"/>
              <a:buChar char="•"/>
            </a:pPr>
            <a:r>
              <a:rPr lang="en-US" sz="1600" dirty="0"/>
              <a:t>Industry type clearly </a:t>
            </a:r>
            <a:r>
              <a:rPr lang="en-US" sz="1600" b="1" dirty="0"/>
              <a:t>influences expected salary</a:t>
            </a:r>
            <a:r>
              <a:rPr lang="en-US" sz="1600" dirty="0"/>
              <a:t>.</a:t>
            </a:r>
          </a:p>
          <a:p>
            <a:pPr>
              <a:buNone/>
            </a:pPr>
            <a:r>
              <a:rPr lang="en-US" sz="1600" b="1" dirty="0"/>
              <a:t>Experience Level &amp; Salary</a:t>
            </a:r>
          </a:p>
          <a:p>
            <a:pPr>
              <a:buFont typeface="Arial" panose="020B0604020202020204" pitchFamily="34" charset="0"/>
              <a:buChar char="•"/>
            </a:pPr>
            <a:r>
              <a:rPr lang="en-US" sz="1600" dirty="0"/>
              <a:t>Strong upward progression from </a:t>
            </a:r>
            <a:r>
              <a:rPr lang="en-US" sz="1600" b="1" dirty="0"/>
              <a:t>Internship → Executive</a:t>
            </a:r>
            <a:r>
              <a:rPr lang="en-US" sz="1600" dirty="0"/>
              <a:t>.</a:t>
            </a:r>
          </a:p>
          <a:p>
            <a:pPr>
              <a:buFont typeface="Arial" panose="020B0604020202020204" pitchFamily="34" charset="0"/>
              <a:buChar char="•"/>
            </a:pPr>
            <a:r>
              <a:rPr lang="en-US" sz="1600" dirty="0"/>
              <a:t>Executive roles earn </a:t>
            </a:r>
            <a:r>
              <a:rPr lang="en-US" sz="1600" b="1" dirty="0"/>
              <a:t>up to 4× more</a:t>
            </a:r>
            <a:r>
              <a:rPr lang="en-US" sz="1600" dirty="0"/>
              <a:t> than interns.</a:t>
            </a:r>
          </a:p>
          <a:p>
            <a:pPr>
              <a:buFont typeface="Arial" panose="020B0604020202020204" pitchFamily="34" charset="0"/>
              <a:buChar char="•"/>
            </a:pPr>
            <a:r>
              <a:rPr lang="en-US" sz="1600" dirty="0"/>
              <a:t>Experience level is the </a:t>
            </a:r>
            <a:r>
              <a:rPr lang="en-US" sz="1600" b="1" dirty="0"/>
              <a:t>strongest predictor of salary</a:t>
            </a:r>
            <a:r>
              <a:rPr lang="en-US" sz="1600" dirty="0"/>
              <a:t>.</a:t>
            </a:r>
          </a:p>
          <a:p>
            <a:pPr>
              <a:buNone/>
            </a:pPr>
            <a:r>
              <a:rPr lang="en-US" sz="1600" b="1" dirty="0"/>
              <a:t>Work Type &amp; Salary</a:t>
            </a:r>
          </a:p>
          <a:p>
            <a:pPr>
              <a:buFont typeface="Arial" panose="020B0604020202020204" pitchFamily="34" charset="0"/>
              <a:buChar char="•"/>
            </a:pPr>
            <a:r>
              <a:rPr lang="en-US" sz="1600" b="1" dirty="0"/>
              <a:t>Full-time</a:t>
            </a:r>
            <a:r>
              <a:rPr lang="en-US" sz="1600" dirty="0"/>
              <a:t> roles show the highest median salaries and widest range.</a:t>
            </a:r>
          </a:p>
          <a:p>
            <a:pPr>
              <a:buFont typeface="Arial" panose="020B0604020202020204" pitchFamily="34" charset="0"/>
              <a:buChar char="•"/>
            </a:pPr>
            <a:r>
              <a:rPr lang="en-US" sz="1600" dirty="0"/>
              <a:t>Contract/part-time roles pay less; internships/volunteer roles pay least.</a:t>
            </a:r>
          </a:p>
          <a:p>
            <a:pPr>
              <a:buFont typeface="Arial" panose="020B0604020202020204" pitchFamily="34" charset="0"/>
              <a:buChar char="•"/>
            </a:pPr>
            <a:r>
              <a:rPr lang="en-US" sz="1600" dirty="0"/>
              <a:t>Work type significantly impacts </a:t>
            </a:r>
            <a:r>
              <a:rPr lang="en-US" sz="1600" b="1" dirty="0"/>
              <a:t>earning potential</a:t>
            </a:r>
            <a:r>
              <a:rPr lang="en-US" sz="1600" dirty="0"/>
              <a:t>.</a:t>
            </a:r>
          </a:p>
          <a:p>
            <a:pPr>
              <a:buNone/>
            </a:pPr>
            <a:r>
              <a:rPr lang="en-US" sz="1600" b="1" dirty="0"/>
              <a:t>Workforce Composition</a:t>
            </a:r>
          </a:p>
          <a:p>
            <a:pPr>
              <a:buFont typeface="Arial" panose="020B0604020202020204" pitchFamily="34" charset="0"/>
              <a:buChar char="•"/>
            </a:pPr>
            <a:r>
              <a:rPr lang="en-US" sz="1600" dirty="0"/>
              <a:t>Dataset is dominated by </a:t>
            </a:r>
            <a:r>
              <a:rPr lang="en-US" sz="1600" b="1" dirty="0"/>
              <a:t>Mid-Senior and Entry-level</a:t>
            </a:r>
            <a:r>
              <a:rPr lang="en-US" sz="1600" dirty="0"/>
              <a:t> roles.</a:t>
            </a:r>
          </a:p>
          <a:p>
            <a:pPr>
              <a:buFont typeface="Arial" panose="020B0604020202020204" pitchFamily="34" charset="0"/>
              <a:buChar char="•"/>
            </a:pPr>
            <a:r>
              <a:rPr lang="en-US" sz="1600" dirty="0"/>
              <a:t>Fewer Director/Executive roles explain why overall salaries </a:t>
            </a:r>
            <a:r>
              <a:rPr lang="en-US" sz="1600" dirty="0" err="1"/>
              <a:t>centre</a:t>
            </a:r>
            <a:r>
              <a:rPr lang="en-US" sz="1600" dirty="0"/>
              <a:t> around the mid-range.</a:t>
            </a:r>
          </a:p>
          <a:p>
            <a:pPr>
              <a:buNone/>
            </a:pPr>
            <a:r>
              <a:rPr lang="en-US" sz="1600" b="1" dirty="0"/>
              <a:t>Mid-Senior Work Type Breakdown</a:t>
            </a:r>
          </a:p>
          <a:p>
            <a:pPr>
              <a:buFont typeface="Arial" panose="020B0604020202020204" pitchFamily="34" charset="0"/>
              <a:buChar char="•"/>
            </a:pPr>
            <a:r>
              <a:rPr lang="en-US" sz="1600" dirty="0"/>
              <a:t>Most Mid-Senior jobs are </a:t>
            </a:r>
            <a:r>
              <a:rPr lang="en-US" sz="1600" b="1" dirty="0"/>
              <a:t>full-time</a:t>
            </a:r>
            <a:r>
              <a:rPr lang="en-US" sz="1600" dirty="0"/>
              <a:t>, explaining many high full-time salary outliers.</a:t>
            </a:r>
          </a:p>
          <a:p>
            <a:pPr>
              <a:buFont typeface="Arial" panose="020B0604020202020204" pitchFamily="34" charset="0"/>
              <a:buChar char="•"/>
            </a:pPr>
            <a:r>
              <a:rPr lang="en-US" sz="1600" dirty="0"/>
              <a:t>Contract/part-time roles exist but are minority.</a:t>
            </a:r>
          </a:p>
          <a:p>
            <a:br>
              <a:rPr lang="en-US" sz="1600" dirty="0"/>
            </a:br>
            <a:r>
              <a:rPr lang="en-US" sz="1600" dirty="0"/>
              <a:t>CONCLUSION: Salaries vary significantly based on experience level, job category, and work type.</a:t>
            </a:r>
            <a:br>
              <a:rPr lang="en-US" sz="1600" dirty="0"/>
            </a:br>
            <a:r>
              <a:rPr lang="en-US" sz="1600" dirty="0"/>
              <a:t>The combination of seniority, industry, and employment arrangement shapes earning potential in the job market.</a:t>
            </a:r>
          </a:p>
        </p:txBody>
      </p:sp>
    </p:spTree>
    <p:extLst>
      <p:ext uri="{BB962C8B-B14F-4D97-AF65-F5344CB8AC3E}">
        <p14:creationId xmlns:p14="http://schemas.microsoft.com/office/powerpoint/2010/main" val="42299295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59</TotalTime>
  <Words>1115</Words>
  <Application>Microsoft Office PowerPoint</Application>
  <PresentationFormat>Widescreen</PresentationFormat>
  <Paragraphs>78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Wingdings</vt:lpstr>
      <vt:lpstr>Wingdings 3</vt:lpstr>
      <vt:lpstr>Ion</vt:lpstr>
      <vt:lpstr>ST1510 Programming for Data Analytics – CA1 Data Analysis on Job Postings Using Pandas &amp; Matplotlib</vt:lpstr>
      <vt:lpstr>Analysis summary</vt:lpstr>
      <vt:lpstr>Data analysis using pandas</vt:lpstr>
      <vt:lpstr>Data analysis using pandas</vt:lpstr>
      <vt:lpstr>Data analysis using pandas</vt:lpstr>
      <vt:lpstr>Data analysis using matplotlib</vt:lpstr>
      <vt:lpstr>Data analysis using matplotlib</vt:lpstr>
      <vt:lpstr>Data analysis using matplotlib</vt:lpstr>
      <vt:lpstr>Key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Chuwa</dc:creator>
  <cp:lastModifiedBy>ETHAN CHUWA SI XUAN</cp:lastModifiedBy>
  <cp:revision>3</cp:revision>
  <dcterms:created xsi:type="dcterms:W3CDTF">2025-11-30T21:33:04Z</dcterms:created>
  <dcterms:modified xsi:type="dcterms:W3CDTF">2025-12-03T02:29:58Z</dcterms:modified>
</cp:coreProperties>
</file>